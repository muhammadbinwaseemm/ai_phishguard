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413" r:id="rId7"/>
    <p:sldId id="408" r:id="rId8"/>
    <p:sldId id="411" r:id="rId9"/>
    <p:sldId id="391" r:id="rId10"/>
    <p:sldId id="412" r:id="rId11"/>
    <p:sldId id="409" r:id="rId12"/>
    <p:sldId id="406" r:id="rId13"/>
    <p:sldId id="405" r:id="rId14"/>
    <p:sldId id="404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B6D55-29E3-BC2C-F0BC-D0D9BD790516}" v="1246" dt="2025-12-15T17:52:36.192"/>
    <p1510:client id="{A6CA1916-7D0A-4815-8FDA-827E7A66D753}" v="1455" dt="2025-12-15T18:44:29.919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27" autoAdjust="0"/>
  </p:normalViewPr>
  <p:slideViewPr>
    <p:cSldViewPr snapToGrid="0">
      <p:cViewPr>
        <p:scale>
          <a:sx n="100" d="100"/>
          <a:sy n="100" d="100"/>
        </p:scale>
        <p:origin x="936" y="4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EB7BE-E62C-8806-2C92-3BF62C9D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4D026-EABA-B646-9ECD-24E4021C3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9740A-3018-981D-3E13-6B8CFC380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58891-0953-8B19-034E-FC4E30DB2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418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95A91-389A-05A9-3057-CCA57A66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6E76B-5C0D-8AF9-D6D4-57BB47BD1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A6353-D5CB-3EA0-1DE6-06EDD6FA1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554BE-1832-86FD-40F6-1B55985DF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359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PHISHGUARD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6EE5E-D75A-128B-E3FF-C623364AE732}"/>
              </a:ext>
            </a:extLst>
          </p:cNvPr>
          <p:cNvSpPr txBox="1"/>
          <p:nvPr/>
        </p:nvSpPr>
        <p:spPr>
          <a:xfrm>
            <a:off x="6219826" y="4095750"/>
            <a:ext cx="6838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An Explainable AI Approach for Email Threat Detection</a:t>
            </a:r>
            <a:endParaRPr lang="en-PK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4062412"/>
          </a:xfrm>
        </p:spPr>
        <p:txBody>
          <a:bodyPr tIns="457200"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Auto-Encoder</a:t>
            </a:r>
          </a:p>
          <a:p>
            <a:r>
              <a:rPr lang="en-US" dirty="0"/>
              <a:t>Random-Forest</a:t>
            </a:r>
          </a:p>
          <a:p>
            <a:r>
              <a:rPr lang="en-US" dirty="0"/>
              <a:t>Performance Metric</a:t>
            </a:r>
          </a:p>
          <a:p>
            <a:r>
              <a:rPr lang="en-US" dirty="0"/>
              <a:t>Graphs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37AD-C1E3-5690-1E43-133F3B454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74096A-8085-468A-28E2-20742A0F35BE}"/>
              </a:ext>
            </a:extLst>
          </p:cNvPr>
          <p:cNvSpPr txBox="1"/>
          <p:nvPr/>
        </p:nvSpPr>
        <p:spPr>
          <a:xfrm>
            <a:off x="7858125" y="4413587"/>
            <a:ext cx="4238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Muhammad Bin Waseem </a:t>
            </a:r>
          </a:p>
          <a:p>
            <a:pPr algn="ctr"/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2023403</a:t>
            </a:r>
            <a:endParaRPr lang="en-PK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034C-26EC-A5C0-1A3D-BD72A737013D}"/>
              </a:ext>
            </a:extLst>
          </p:cNvPr>
          <p:cNvSpPr txBox="1"/>
          <p:nvPr/>
        </p:nvSpPr>
        <p:spPr>
          <a:xfrm>
            <a:off x="3076573" y="2298263"/>
            <a:ext cx="46577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Muhammad Zaeem Nawaz </a:t>
            </a:r>
          </a:p>
          <a:p>
            <a:pPr algn="ctr"/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2023550</a:t>
            </a:r>
            <a:endParaRPr lang="en-PK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AD63B-2837-EF82-190F-283B3D15F789}"/>
              </a:ext>
            </a:extLst>
          </p:cNvPr>
          <p:cNvSpPr txBox="1"/>
          <p:nvPr/>
        </p:nvSpPr>
        <p:spPr>
          <a:xfrm>
            <a:off x="6905624" y="547211"/>
            <a:ext cx="48577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Muhammad Abdullah Khan Mahsud</a:t>
            </a:r>
          </a:p>
          <a:p>
            <a:pPr algn="ctr"/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2023346</a:t>
            </a:r>
            <a:endParaRPr lang="en-PK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5DE91-8863-4F14-815F-1AD6CAC5EB03}"/>
              </a:ext>
            </a:extLst>
          </p:cNvPr>
          <p:cNvSpPr txBox="1"/>
          <p:nvPr/>
        </p:nvSpPr>
        <p:spPr>
          <a:xfrm>
            <a:off x="5124449" y="5618977"/>
            <a:ext cx="4857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Muhammad Shaheer</a:t>
            </a:r>
          </a:p>
          <a:p>
            <a:pPr algn="ctr"/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2023509</a:t>
            </a:r>
            <a:endParaRPr lang="en-PK" sz="3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578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0"/>
            <a:ext cx="9778365" cy="1494596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89585" y="1682140"/>
            <a:ext cx="10500904" cy="1308649"/>
          </a:xfrm>
        </p:spPr>
        <p:txBody>
          <a:bodyPr>
            <a:normAutofit/>
          </a:bodyPr>
          <a:lstStyle/>
          <a:p>
            <a:r>
              <a:rPr lang="en-US" sz="3000" b="1" dirty="0"/>
              <a:t>What is Phishing : </a:t>
            </a:r>
            <a:endParaRPr lang="en-US" dirty="0"/>
          </a:p>
          <a:p>
            <a:pPr algn="just"/>
            <a:r>
              <a:rPr lang="en-US" sz="2200" dirty="0"/>
              <a:t>A social engineering attack that tricks recipients into revealing sensitive information. Often done through emails and fake URLs.</a:t>
            </a:r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F1DAF4-3DF8-8140-C572-28D7BDEFC182}"/>
              </a:ext>
            </a:extLst>
          </p:cNvPr>
          <p:cNvSpPr txBox="1"/>
          <p:nvPr/>
        </p:nvSpPr>
        <p:spPr>
          <a:xfrm>
            <a:off x="489586" y="2989714"/>
            <a:ext cx="7235190" cy="3729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THREATS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Traditional defenses fail against sophisticated, AI-enhanced phishing.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Phishing is the #1 gateway to catastrophic data breaches and financial loss.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Sophisticated techniques render keyword filters obsolete.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 require a robust defense to detect subtle, non-obvious malicious patterns.</a:t>
            </a:r>
            <a:endParaRPr lang="en-PK" sz="2000" dirty="0">
              <a:solidFill>
                <a:schemeClr val="bg1"/>
              </a:solidFill>
            </a:endParaRPr>
          </a:p>
        </p:txBody>
      </p:sp>
      <p:pic>
        <p:nvPicPr>
          <p:cNvPr id="2063" name="Picture 15" descr="Phishing Statistics: The 21 Latest Phishing Stats to Know in 2024 - Hashed  Out by The SSL Store™">
            <a:extLst>
              <a:ext uri="{FF2B5EF4-FFF2-40B4-BE49-F238E27FC236}">
                <a16:creationId xmlns:a16="http://schemas.microsoft.com/office/drawing/2014/main" id="{55AB7B96-EADC-0A22-443E-35E3BDF2E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0" y="3514725"/>
            <a:ext cx="4819650" cy="320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F9A3-A8C1-B148-1A42-C12A5B3A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99D4-F9FB-C9CE-5773-A2B83686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0"/>
            <a:ext cx="9778365" cy="1494596"/>
          </a:xfrm>
        </p:spPr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C23481-D696-6CFB-2A09-0AEF45C6964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89585" y="3454004"/>
            <a:ext cx="5777865" cy="3597470"/>
          </a:xfrm>
        </p:spPr>
        <p:txBody>
          <a:bodyPr>
            <a:normAutofit/>
          </a:bodyPr>
          <a:lstStyle/>
          <a:p>
            <a:r>
              <a:rPr lang="en-US" sz="3200" dirty="0"/>
              <a:t>Key preprocessing steps include:</a:t>
            </a:r>
          </a:p>
          <a:p>
            <a:r>
              <a:rPr lang="en-US" dirty="0"/>
              <a:t>•	Safe CSV loading with multi-encoding support</a:t>
            </a:r>
          </a:p>
          <a:p>
            <a:r>
              <a:rPr lang="en-US" dirty="0"/>
              <a:t>•	Text normalization and cleaning</a:t>
            </a:r>
          </a:p>
          <a:p>
            <a:r>
              <a:rPr lang="en-US" dirty="0"/>
              <a:t>•	Feature scaling using </a:t>
            </a:r>
            <a:r>
              <a:rPr lang="en-US" dirty="0" err="1"/>
              <a:t>StandardScaler</a:t>
            </a:r>
            <a:endParaRPr lang="en-US" dirty="0"/>
          </a:p>
          <a:p>
            <a:r>
              <a:rPr lang="en-US" dirty="0"/>
              <a:t>•	Class imbalance handling using SMOTE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858DF-67F0-87CB-F7A6-5369CA7B5499}"/>
              </a:ext>
            </a:extLst>
          </p:cNvPr>
          <p:cNvSpPr txBox="1"/>
          <p:nvPr/>
        </p:nvSpPr>
        <p:spPr>
          <a:xfrm>
            <a:off x="489585" y="2388334"/>
            <a:ext cx="94164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000" dirty="0">
                <a:solidFill>
                  <a:schemeClr val="bg1"/>
                </a:solidFill>
              </a:rPr>
              <a:t>The dataset consists of </a:t>
            </a:r>
            <a:r>
              <a:rPr lang="en-PK" sz="2000" dirty="0" err="1">
                <a:solidFill>
                  <a:schemeClr val="bg1"/>
                </a:solidFill>
              </a:rPr>
              <a:t>labeled</a:t>
            </a:r>
            <a:r>
              <a:rPr lang="en-PK" sz="2000" dirty="0">
                <a:solidFill>
                  <a:schemeClr val="bg1"/>
                </a:solidFill>
              </a:rPr>
              <a:t> phishing and legitimate emails collected from publicly available sources. Real-world issues such as mixed encodings, missing values, and inconsistent labels are addressed using a robust preprocessing pipeline.</a:t>
            </a:r>
          </a:p>
        </p:txBody>
      </p:sp>
    </p:spTree>
    <p:extLst>
      <p:ext uri="{BB962C8B-B14F-4D97-AF65-F5344CB8AC3E}">
        <p14:creationId xmlns:p14="http://schemas.microsoft.com/office/powerpoint/2010/main" val="4247925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/>
              <a:t>AUTO-ENCODER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161" y="2030717"/>
            <a:ext cx="6098610" cy="2072079"/>
          </a:xfrm>
        </p:spPr>
        <p:txBody>
          <a:bodyPr vert="horz" lIns="0" tIns="228600" rIns="0" bIns="0" rtlCol="0" anchor="t">
            <a:normAutofit/>
          </a:bodyPr>
          <a:lstStyle/>
          <a:p>
            <a:pPr marL="0" indent="0">
              <a:buNone/>
            </a:pPr>
            <a:r>
              <a:rPr lang="en-US" sz="3200" b="1"/>
              <a:t>What is Auto-Encoder: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An autoencoder is an unsupervised neural network that learns efficient data representations by compressing input data into a lower-dimensional "code" (encoding) and then reconstructing the original input from this code.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283210" indent="-283210"/>
            <a:endParaRPr lang="en-US"/>
          </a:p>
          <a:p>
            <a:pPr marL="283210" indent="-283210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B094828-6988-312D-7932-57D4B93C7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033" y="546904"/>
            <a:ext cx="5307904" cy="28727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09B79A-EE39-69E4-E7A7-234B5D8BB882}"/>
              </a:ext>
            </a:extLst>
          </p:cNvPr>
          <p:cNvSpPr txBox="1"/>
          <p:nvPr/>
        </p:nvSpPr>
        <p:spPr>
          <a:xfrm>
            <a:off x="3240814" y="4220848"/>
            <a:ext cx="694985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Role in Project:</a:t>
            </a:r>
          </a:p>
          <a:p>
            <a:endParaRPr lang="en-US" sz="1600" b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Dimensionality Reduction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(learning a compressed, essential representation of the email data)</a:t>
            </a:r>
            <a:endParaRPr lang="en-US" sz="2000" b="1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bg1"/>
                </a:solidFill>
              </a:rPr>
              <a:t>Anomaly</a:t>
            </a:r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 Detection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(detecting unusual patterns/noise in phishing emails)</a:t>
            </a:r>
            <a:endParaRPr lang="en-US" sz="2000">
              <a:solidFill>
                <a:schemeClr val="bg1"/>
              </a:solidFill>
            </a:endParaRPr>
          </a:p>
          <a:p>
            <a:endParaRPr 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3607-BF1B-A7DB-662A-50211A73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FOREST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F14C6-6321-932A-14F0-9977C6DA2201}"/>
              </a:ext>
            </a:extLst>
          </p:cNvPr>
          <p:cNvSpPr txBox="1"/>
          <p:nvPr/>
        </p:nvSpPr>
        <p:spPr>
          <a:xfrm>
            <a:off x="594377" y="2509370"/>
            <a:ext cx="561614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 random forest is a supervised machine learning algorithm that builds and combines a multitude of individual decision trees to produce a more accurate and stable prediction.</a:t>
            </a:r>
            <a:endParaRPr lang="en-US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F31662-6E22-2081-5057-7D5A33262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913" y="313683"/>
            <a:ext cx="5353308" cy="39137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64EA0D-CD71-A557-AC95-013ACF5DE8DF}"/>
              </a:ext>
            </a:extLst>
          </p:cNvPr>
          <p:cNvSpPr txBox="1"/>
          <p:nvPr/>
        </p:nvSpPr>
        <p:spPr>
          <a:xfrm>
            <a:off x="3395274" y="4962253"/>
            <a:ext cx="6949857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Role in Project:</a:t>
            </a:r>
          </a:p>
          <a:p>
            <a:endParaRPr lang="en-US" sz="1600" b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Final Classifier 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on the</a:t>
            </a:r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refined/reconstructed features from the Autoencoder.</a:t>
            </a:r>
            <a:endParaRPr lang="en-US" sz="2000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CBE07B-5432-3F9E-EA39-4E1F328975D6}"/>
              </a:ext>
            </a:extLst>
          </p:cNvPr>
          <p:cNvSpPr txBox="1"/>
          <p:nvPr/>
        </p:nvSpPr>
        <p:spPr>
          <a:xfrm>
            <a:off x="597243" y="3830595"/>
            <a:ext cx="609600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Why RF is used: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it combines many decision trees to create a powerful, accurate model that reduces overfitting.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01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close-up of a plant">
            <a:extLst>
              <a:ext uri="{FF2B5EF4-FFF2-40B4-BE49-F238E27FC236}">
                <a16:creationId xmlns:a16="http://schemas.microsoft.com/office/drawing/2014/main" id="{8DB431A1-9806-9CFE-0E5F-1A5611C2A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0" y="0"/>
            <a:ext cx="12192000" cy="688022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/>
          <a:lstStyle/>
          <a:p>
            <a:r>
              <a:rPr lang="en-US" dirty="0"/>
              <a:t>RESULTS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F974993-AD54-3E60-F429-14B8A2455495}"/>
              </a:ext>
            </a:extLst>
          </p:cNvPr>
          <p:cNvSpPr txBox="1">
            <a:spLocks/>
          </p:cNvSpPr>
          <p:nvPr/>
        </p:nvSpPr>
        <p:spPr>
          <a:xfrm>
            <a:off x="2678747" y="-200025"/>
            <a:ext cx="6941503" cy="130818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PERFORMANCE METIRCS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8C08FB-081C-FB50-2472-9DDFEED7E0E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7460" y="1279525"/>
            <a:ext cx="2415540" cy="15208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ACCURACY :</a:t>
            </a:r>
          </a:p>
          <a:p>
            <a:pPr algn="just"/>
            <a:r>
              <a:rPr lang="en-US" sz="1800" b="1" dirty="0"/>
              <a:t>The overall percentage of all emails that were classified correctly.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62A889A-146E-F3D4-C7B5-AA72BD9368B7}"/>
              </a:ext>
            </a:extLst>
          </p:cNvPr>
          <p:cNvSpPr txBox="1">
            <a:spLocks/>
          </p:cNvSpPr>
          <p:nvPr/>
        </p:nvSpPr>
        <p:spPr>
          <a:xfrm>
            <a:off x="9014460" y="1279525"/>
            <a:ext cx="2815590" cy="2044700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PRECISION</a:t>
            </a:r>
            <a:r>
              <a:rPr lang="en-US" b="1" dirty="0"/>
              <a:t> :</a:t>
            </a:r>
          </a:p>
          <a:p>
            <a:pPr algn="just"/>
            <a:r>
              <a:rPr lang="en-US" sz="1800" b="1" dirty="0"/>
              <a:t>model's reliability; Minimize False Alarms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24419B7-23C0-BBFC-A558-7C2E3CB3643B}"/>
              </a:ext>
            </a:extLst>
          </p:cNvPr>
          <p:cNvSpPr txBox="1">
            <a:spLocks/>
          </p:cNvSpPr>
          <p:nvPr/>
        </p:nvSpPr>
        <p:spPr>
          <a:xfrm>
            <a:off x="6461760" y="3429000"/>
            <a:ext cx="2415540" cy="1866900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RECALL</a:t>
            </a:r>
            <a:r>
              <a:rPr lang="en-US" b="1" dirty="0"/>
              <a:t> :</a:t>
            </a:r>
          </a:p>
          <a:p>
            <a:pPr algn="just"/>
            <a:r>
              <a:rPr lang="en-US" sz="1800" b="1" dirty="0"/>
              <a:t>Measures the model's coverage; Detects the vast majority of actual phishing emails.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84B860-2877-C5E1-C9C8-81EAA454D591}"/>
              </a:ext>
            </a:extLst>
          </p:cNvPr>
          <p:cNvSpPr txBox="1">
            <a:spLocks/>
          </p:cNvSpPr>
          <p:nvPr/>
        </p:nvSpPr>
        <p:spPr>
          <a:xfrm>
            <a:off x="9214485" y="3429000"/>
            <a:ext cx="2415540" cy="1866900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F1 Score :</a:t>
            </a:r>
          </a:p>
          <a:p>
            <a:pPr algn="just"/>
            <a:r>
              <a:rPr lang="en-US" sz="1800" b="1" dirty="0"/>
              <a:t>Balances False Alarms (precision) and Missed Threats (Recall).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8EB7B2A-91E7-32BA-9261-9C40E6197440}"/>
              </a:ext>
            </a:extLst>
          </p:cNvPr>
          <p:cNvSpPr txBox="1">
            <a:spLocks/>
          </p:cNvSpPr>
          <p:nvPr/>
        </p:nvSpPr>
        <p:spPr>
          <a:xfrm>
            <a:off x="6543675" y="5295900"/>
            <a:ext cx="5286375" cy="1866900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ROC AUC :</a:t>
            </a:r>
          </a:p>
          <a:p>
            <a:pPr algn="ctr"/>
            <a:r>
              <a:rPr lang="en-US" sz="1800" b="1" dirty="0"/>
              <a:t>Ranks phishing emails higher than legitimate emails (probability across all thresholds).</a:t>
            </a:r>
          </a:p>
        </p:txBody>
      </p:sp>
      <p:pic>
        <p:nvPicPr>
          <p:cNvPr id="4098" name="Picture 2" descr="Confusion Matrix - Statistics By Jim">
            <a:extLst>
              <a:ext uri="{FF2B5EF4-FFF2-40B4-BE49-F238E27FC236}">
                <a16:creationId xmlns:a16="http://schemas.microsoft.com/office/drawing/2014/main" id="{64EA6E2E-F634-598C-908D-3DB5E30A3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35" y="1398732"/>
            <a:ext cx="5715706" cy="4676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/>
          <a:lstStyle/>
          <a:p>
            <a:r>
              <a:rPr lang="en-US" dirty="0"/>
              <a:t>RESULTS METRICS</a:t>
            </a:r>
          </a:p>
        </p:txBody>
      </p:sp>
      <p:graphicFrame>
        <p:nvGraphicFramePr>
          <p:cNvPr id="8" name="Table Placeholder 2">
            <a:extLst>
              <a:ext uri="{FF2B5EF4-FFF2-40B4-BE49-F238E27FC236}">
                <a16:creationId xmlns:a16="http://schemas.microsoft.com/office/drawing/2014/main" id="{C60AA2D2-28D7-69D7-F6C5-B31DAD3332C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59265221"/>
              </p:ext>
            </p:extLst>
          </p:nvPr>
        </p:nvGraphicFramePr>
        <p:xfrm>
          <a:off x="2543174" y="533309"/>
          <a:ext cx="7105653" cy="46578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36855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36855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6855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72833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j-lt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j-lt"/>
                        </a:rPr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j-lt"/>
                        </a:rPr>
                        <a:t>AUTOENCODER+RF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80666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89.88%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96.29%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0666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84.95%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94.80%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188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96.93%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96.66%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8188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90.54%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95.72%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15237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ROC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92.4%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99.38%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GRAPHS </a:t>
            </a:r>
          </a:p>
        </p:txBody>
      </p:sp>
      <p:pic>
        <p:nvPicPr>
          <p:cNvPr id="10" name="Content Placeholder 9" descr="A screenshot of a graph&#10;&#10;AI-generated content may be incorrect.">
            <a:extLst>
              <a:ext uri="{FF2B5EF4-FFF2-40B4-BE49-F238E27FC236}">
                <a16:creationId xmlns:a16="http://schemas.microsoft.com/office/drawing/2014/main" id="{3C782133-136B-4B8E-79CE-B7EEBA0B142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rcRect l="1532" t="1161" r="408" b="1614"/>
          <a:stretch>
            <a:fillRect/>
          </a:stretch>
        </p:blipFill>
        <p:spPr>
          <a:xfrm>
            <a:off x="0" y="3200399"/>
            <a:ext cx="5378459" cy="3657601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E17F735-031F-D2F7-CDAE-BE042EE9879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/>
          <a:srcRect t="1551" r="1422" b="2499"/>
          <a:stretch>
            <a:fillRect/>
          </a:stretch>
        </p:blipFill>
        <p:spPr>
          <a:xfrm>
            <a:off x="6145221" y="3200399"/>
            <a:ext cx="5724525" cy="36576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C268E0-316D-64EB-D5D0-DFA192635E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8" t="3150" r="683"/>
          <a:stretch>
            <a:fillRect/>
          </a:stretch>
        </p:blipFill>
        <p:spPr>
          <a:xfrm>
            <a:off x="3629025" y="0"/>
            <a:ext cx="8315325" cy="322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0CC1F2D7347438DD75F0030C18908" ma:contentTypeVersion="4" ma:contentTypeDescription="Create a new document." ma:contentTypeScope="" ma:versionID="8a6c3522bb3f994198a1bba90fe12078">
  <xsd:schema xmlns:xsd="http://www.w3.org/2001/XMLSchema" xmlns:xs="http://www.w3.org/2001/XMLSchema" xmlns:p="http://schemas.microsoft.com/office/2006/metadata/properties" xmlns:ns3="6b8a605c-f063-45b8-a3dd-8aad555f6b84" targetNamespace="http://schemas.microsoft.com/office/2006/metadata/properties" ma:root="true" ma:fieldsID="9c9ed3f22d86fae3fbd63d6d10da8783" ns3:_="">
    <xsd:import namespace="6b8a605c-f063-45b8-a3dd-8aad555f6b8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8a605c-f063-45b8-a3dd-8aad555f6b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purl.org/dc/elements/1.1/"/>
    <ds:schemaRef ds:uri="http://schemas.microsoft.com/office/2006/metadata/properties"/>
    <ds:schemaRef ds:uri="6b8a605c-f063-45b8-a3dd-8aad555f6b84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D5B1996-5FC4-4F75-940E-61442F6D59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8a605c-f063-45b8-a3dd-8aad555f6b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{7BC61973-4D40-4663-8A9A-3F4BD6A1A946}TFd3b75063-ff25-434d-b12c-efeaf07d16c3292f62b5_win32-75a75c970d8e</Template>
  <TotalTime>179</TotalTime>
  <Words>434</Words>
  <Application>Microsoft Office PowerPoint</Application>
  <PresentationFormat>Widescreen</PresentationFormat>
  <Paragraphs>95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Franklin Gothic Book</vt:lpstr>
      <vt:lpstr>Franklin Gothic Demi</vt:lpstr>
      <vt:lpstr>Custom</vt:lpstr>
      <vt:lpstr>PHISHGUARD</vt:lpstr>
      <vt:lpstr>Agenda</vt:lpstr>
      <vt:lpstr>PowerPoint Presentation</vt:lpstr>
      <vt:lpstr>PROBLEM STATEMENT</vt:lpstr>
      <vt:lpstr>DATA PREPROCESSING</vt:lpstr>
      <vt:lpstr>AUTO-ENCODER</vt:lpstr>
      <vt:lpstr>RANDOM FOREST</vt:lpstr>
      <vt:lpstr>RESULTS AND EVALUATION</vt:lpstr>
      <vt:lpstr>PowerPoint Presentation</vt:lpstr>
      <vt:lpstr>RESULTS METRICS</vt:lpstr>
      <vt:lpstr>GRAPHS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u2023509</dc:creator>
  <cp:lastModifiedBy>u2023509</cp:lastModifiedBy>
  <cp:revision>2</cp:revision>
  <dcterms:created xsi:type="dcterms:W3CDTF">2025-12-15T15:45:07Z</dcterms:created>
  <dcterms:modified xsi:type="dcterms:W3CDTF">2025-12-15T18:44:29Z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0x010100AEA0CC1F2D7347438DD75F0030C18908</vt:lpwstr>
  </property>
</Properties>
</file>